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7" r:id="rId9"/>
    <p:sldId id="274" r:id="rId10"/>
    <p:sldId id="275" r:id="rId11"/>
    <p:sldId id="264" r:id="rId12"/>
    <p:sldId id="273" r:id="rId13"/>
    <p:sldId id="265" r:id="rId14"/>
    <p:sldId id="266" r:id="rId15"/>
    <p:sldId id="268" r:id="rId16"/>
    <p:sldId id="269" r:id="rId17"/>
    <p:sldId id="270" r:id="rId18"/>
    <p:sldId id="272" r:id="rId19"/>
    <p:sldId id="271" r:id="rId2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21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72707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5020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12967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05484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6205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297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1244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31696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3991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75088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17733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4573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02514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6305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43857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9490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921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92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make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4186" y="-781050"/>
            <a:ext cx="7179733" cy="373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Beyond WhatsApp</a:t>
            </a:r>
            <a:r>
              <a:rPr lang="en-US" sz="3200" b="1" dirty="0"/>
              <a:t>: An Improved Real-Time Messaging Solution</a:t>
            </a:r>
          </a:p>
        </p:txBody>
      </p:sp>
      <p:sp>
        <p:nvSpPr>
          <p:cNvPr id="3" name="Text 1">
            <a:hlinkClick r:id="rId3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2B53E-E59F-5FFD-B34F-F256DB6C7C58}"/>
              </a:ext>
            </a:extLst>
          </p:cNvPr>
          <p:cNvSpPr txBox="1"/>
          <p:nvPr/>
        </p:nvSpPr>
        <p:spPr>
          <a:xfrm>
            <a:off x="562188" y="3230880"/>
            <a:ext cx="2336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Presented By</a:t>
            </a:r>
            <a:br>
              <a:rPr lang="en-IN" dirty="0"/>
            </a:br>
            <a:r>
              <a:rPr lang="en-IN" dirty="0"/>
              <a:t>Akash Yadav M</a:t>
            </a:r>
            <a:br>
              <a:rPr lang="en-IN" dirty="0"/>
            </a:br>
            <a:r>
              <a:rPr lang="en-IN" dirty="0"/>
              <a:t>Ananda Krishnan Aji</a:t>
            </a:r>
            <a:br>
              <a:rPr lang="en-IN" dirty="0"/>
            </a:br>
            <a:r>
              <a:rPr lang="en-IN" dirty="0"/>
              <a:t>Lohith K</a:t>
            </a:r>
            <a:br>
              <a:rPr lang="en-IN" dirty="0"/>
            </a:br>
            <a:r>
              <a:rPr lang="en-IN" dirty="0"/>
              <a:t>Mohammad </a:t>
            </a:r>
            <a:r>
              <a:rPr lang="en-IN" dirty="0" err="1"/>
              <a:t>Abith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81094" y="28787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Optima" pitchFamily="34" charset="0"/>
                <a:ea typeface="Optima" pitchFamily="34" charset="-122"/>
              </a:rPr>
              <a:t>CONTENTS :-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457198" y="440267"/>
            <a:ext cx="7752082" cy="49648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3A1121-01A7-2840-F0F7-3FE3A125D464}"/>
              </a:ext>
            </a:extLst>
          </p:cNvPr>
          <p:cNvSpPr txBox="1"/>
          <p:nvPr/>
        </p:nvSpPr>
        <p:spPr>
          <a:xfrm>
            <a:off x="633306" y="745499"/>
            <a:ext cx="4487333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INTRODUCTION.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HARDWARE/SOFTWARE REQUIRMENTS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APPLICATION ARCHITECTURE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BACKEND DEVELOPMENT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FRONTEND DEVELOPMENT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SECURITY AND AUTHENTICATION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FUTURE IMPROVEMENTS/REFERNCE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</a:rPr>
              <a:t>INTRODUCTION: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EB183-4942-79E4-F9D5-8B78703F1775}"/>
              </a:ext>
            </a:extLst>
          </p:cNvPr>
          <p:cNvSpPr txBox="1"/>
          <p:nvPr/>
        </p:nvSpPr>
        <p:spPr>
          <a:xfrm>
            <a:off x="304800" y="921173"/>
            <a:ext cx="736938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dirty="0"/>
              <a:t>What is a Web-Based Chat Application?</a:t>
            </a:r>
            <a:br>
              <a:rPr lang="en-IN" sz="1900" b="1" dirty="0"/>
            </a:br>
            <a:r>
              <a:rPr lang="en-IN" sz="1900" dirty="0"/>
              <a:t>A platform for real-time communication with features like instant messaging and media </a:t>
            </a:r>
            <a:r>
              <a:rPr lang="en-IN" sz="1900" dirty="0" err="1"/>
              <a:t>sharing.Purpose</a:t>
            </a:r>
            <a:r>
              <a:rPr lang="en-IN" sz="1900" dirty="0"/>
              <a:t> Facilitate user interaction in real-time.. Handle media uploads seamlessly. Provide a scalable, modern communication tool.</a:t>
            </a:r>
            <a:br>
              <a:rPr lang="en-IN" sz="1900" dirty="0"/>
            </a:br>
            <a:br>
              <a:rPr lang="en-IN" sz="1900" dirty="0"/>
            </a:br>
            <a:r>
              <a:rPr lang="en-IN" sz="1900" b="1" u="sng" dirty="0"/>
              <a:t>Technologies Used:</a:t>
            </a:r>
            <a:br>
              <a:rPr lang="en-IN" sz="1900" dirty="0"/>
            </a:br>
            <a:r>
              <a:rPr lang="en-IN" sz="1900" dirty="0"/>
              <a:t>React: Frontend framework for building an interactive UI.</a:t>
            </a:r>
            <a:br>
              <a:rPr lang="en-IN" sz="1900" dirty="0"/>
            </a:br>
            <a:r>
              <a:rPr lang="en-IN" sz="1900" dirty="0"/>
              <a:t>Node.js: Backend server.</a:t>
            </a:r>
            <a:br>
              <a:rPr lang="en-IN" sz="1900" dirty="0"/>
            </a:br>
            <a:r>
              <a:rPr lang="en-IN" sz="1900" dirty="0"/>
              <a:t>MongoDB: Database for data storage.</a:t>
            </a:r>
            <a:br>
              <a:rPr lang="en-IN" sz="1900" dirty="0"/>
            </a:br>
            <a:r>
              <a:rPr lang="en-IN" sz="1900" dirty="0" err="1"/>
              <a:t>Cloudinary</a:t>
            </a:r>
            <a:r>
              <a:rPr lang="en-IN" sz="1900" dirty="0"/>
              <a:t>: Media upload and optimization.</a:t>
            </a:r>
            <a:br>
              <a:rPr lang="en-IN" sz="1900" dirty="0"/>
            </a:br>
            <a:r>
              <a:rPr lang="en-IN" sz="1900" dirty="0"/>
              <a:t>Socket.IO: Real-time messaging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</a:rPr>
              <a:t>HARDWARE/SOFTWARE REQUIRMENTS :-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18347" y="934719"/>
            <a:ext cx="7755466" cy="4077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Hardware Requirements</a:t>
            </a:r>
          </a:p>
          <a:p>
            <a:r>
              <a:rPr lang="en-IN" b="1" dirty="0"/>
              <a:t>Client System</a:t>
            </a:r>
            <a:r>
              <a:rPr lang="en-IN" dirty="0"/>
              <a:t>:</a:t>
            </a:r>
          </a:p>
          <a:p>
            <a:r>
              <a:rPr lang="en-IN" dirty="0"/>
              <a:t>4GB RAM (8GB recommended), Intel Core i3 or higher, 20GB storage.</a:t>
            </a:r>
          </a:p>
          <a:p>
            <a:r>
              <a:rPr lang="en-IN" b="1" dirty="0"/>
              <a:t>Server System</a:t>
            </a:r>
            <a:r>
              <a:rPr lang="en-IN" dirty="0"/>
              <a:t>:</a:t>
            </a:r>
          </a:p>
          <a:p>
            <a:r>
              <a:rPr lang="en-IN" dirty="0"/>
              <a:t>8GB RAM, Quad-core CPU, 100GB SSD, High-speed internet.</a:t>
            </a:r>
          </a:p>
          <a:p>
            <a:pPr lvl="1"/>
            <a:endParaRPr lang="en-IN" dirty="0"/>
          </a:p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Software Requirements</a:t>
            </a:r>
          </a:p>
          <a:p>
            <a:r>
              <a:rPr lang="en-IN" b="1" dirty="0"/>
              <a:t>Frontend</a:t>
            </a:r>
            <a:r>
              <a:rPr lang="en-IN" dirty="0"/>
              <a:t>: React.</a:t>
            </a:r>
          </a:p>
          <a:p>
            <a:r>
              <a:rPr lang="en-IN" b="1" dirty="0"/>
              <a:t>Backend</a:t>
            </a:r>
            <a:r>
              <a:rPr lang="en-IN" dirty="0"/>
              <a:t>: Node.js, Express.js, Socket.IO.</a:t>
            </a:r>
          </a:p>
          <a:p>
            <a:r>
              <a:rPr lang="en-IN" b="1" dirty="0"/>
              <a:t>Database</a:t>
            </a:r>
            <a:r>
              <a:rPr lang="en-IN" dirty="0"/>
              <a:t>: MongoDB.</a:t>
            </a:r>
          </a:p>
          <a:p>
            <a:r>
              <a:rPr lang="en-IN" b="1" dirty="0"/>
              <a:t>Media Management</a:t>
            </a:r>
            <a:r>
              <a:rPr lang="en-IN" dirty="0"/>
              <a:t>: </a:t>
            </a:r>
            <a:r>
              <a:rPr lang="en-IN" dirty="0" err="1"/>
              <a:t>Cloudinary</a:t>
            </a:r>
            <a:r>
              <a:rPr lang="en-IN" dirty="0"/>
              <a:t> SDK.</a:t>
            </a:r>
          </a:p>
          <a:p>
            <a:r>
              <a:rPr lang="en-IN" b="1" dirty="0"/>
              <a:t>Tools</a:t>
            </a:r>
            <a:r>
              <a:rPr lang="en-IN" dirty="0"/>
              <a:t>: VS Code, Git/GitHub.</a:t>
            </a:r>
          </a:p>
          <a:p>
            <a:r>
              <a:rPr lang="en-IN" b="1" dirty="0"/>
              <a:t>OS</a:t>
            </a:r>
            <a:r>
              <a:rPr lang="en-IN" dirty="0"/>
              <a:t>: Windows, macOS, or Linux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45627" y="-111752"/>
            <a:ext cx="8229600" cy="1119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Optima" pitchFamily="34" charset="0"/>
                <a:ea typeface="Optima" pitchFamily="34" charset="-122"/>
              </a:rPr>
              <a:t>APPLICATION ARCHITECTURE :-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D4441-35A9-3A19-F6DE-21E68649F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3284"/>
            <a:ext cx="7125547" cy="41389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C2814C4-426C-F2AB-1BA2-0E2CD8487A8F}"/>
              </a:ext>
            </a:extLst>
          </p:cNvPr>
          <p:cNvSpPr/>
          <p:nvPr/>
        </p:nvSpPr>
        <p:spPr>
          <a:xfrm>
            <a:off x="2462876" y="839893"/>
            <a:ext cx="236651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457199" y="1142999"/>
            <a:ext cx="5340773" cy="3537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08C137-36CA-97B3-1324-C4ADE47FE73F}"/>
              </a:ext>
            </a:extLst>
          </p:cNvPr>
          <p:cNvSpPr txBox="1"/>
          <p:nvPr/>
        </p:nvSpPr>
        <p:spPr>
          <a:xfrm>
            <a:off x="176107" y="291253"/>
            <a:ext cx="70374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Users connect via </a:t>
            </a:r>
            <a:r>
              <a:rPr lang="en-US" sz="2400" dirty="0" err="1"/>
              <a:t>WebSockets</a:t>
            </a:r>
            <a:r>
              <a:rPr lang="en-US" sz="2400" dirty="0"/>
              <a:t> for real-time messaging, authenticated by the Authenticator.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Real-Time Service manages chat through Chat Servers and user status via Presence Servers.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API Servers handle authentication, data requests, and media uploads.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MongoDB stores user data, messages, and chat history, while </a:t>
            </a:r>
            <a:r>
              <a:rPr lang="en-US" sz="2400" dirty="0" err="1"/>
              <a:t>Cloudinary</a:t>
            </a:r>
            <a:r>
              <a:rPr lang="en-US" sz="2400" dirty="0"/>
              <a:t> handles media storage and delivery.</a:t>
            </a:r>
            <a:endParaRPr lang="en-I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75920" y="45719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latin typeface="Optima" pitchFamily="34" charset="0"/>
                <a:ea typeface="Optima" pitchFamily="34" charset="-122"/>
              </a:rPr>
              <a:t>BACKEND DEVELOPMENT :-</a:t>
            </a:r>
          </a:p>
        </p:txBody>
      </p:sp>
      <p:sp>
        <p:nvSpPr>
          <p:cNvPr id="5" name="Text 1"/>
          <p:cNvSpPr/>
          <p:nvPr/>
        </p:nvSpPr>
        <p:spPr>
          <a:xfrm>
            <a:off x="216747" y="836506"/>
            <a:ext cx="562186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controllers</a:t>
            </a:r>
            <a:r>
              <a:rPr lang="en-US" sz="1500" dirty="0"/>
              <a:t>: Contains functions to handle API requests (e.g., create, update, delete).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seeds: </a:t>
            </a:r>
            <a:r>
              <a:rPr lang="en-US" sz="1500" dirty="0"/>
              <a:t>Scripts to populate the database with initial or sample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libs: </a:t>
            </a:r>
            <a:r>
              <a:rPr lang="en-US" sz="1500" dirty="0"/>
              <a:t>Utility functions and helpers used throughout the app.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routes: </a:t>
            </a:r>
            <a:r>
              <a:rPr lang="en-US" sz="1500" dirty="0"/>
              <a:t>Defines API endpoints and links them to controller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middleware: </a:t>
            </a:r>
            <a:r>
              <a:rPr lang="en-US" sz="1500" dirty="0"/>
              <a:t>Functions that run before request handlers, like authentication or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models: </a:t>
            </a:r>
            <a:r>
              <a:rPr lang="en-US" sz="1500" dirty="0"/>
              <a:t>Defines database schemas and how data is structured.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index.js: </a:t>
            </a:r>
            <a:r>
              <a:rPr lang="en-US" sz="1500" dirty="0"/>
              <a:t>Main file to set up the server, connect to the database, and initialize routes.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.env file: </a:t>
            </a:r>
            <a:r>
              <a:rPr lang="en-US" sz="1500" dirty="0"/>
              <a:t>Stores sensitive environment variables (e.g., API keys, database URLs).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/>
              <a:t>Package.json</a:t>
            </a:r>
            <a:r>
              <a:rPr lang="en-US" sz="1500" b="1" dirty="0"/>
              <a:t>: </a:t>
            </a:r>
            <a:r>
              <a:rPr lang="en-US" sz="1500" dirty="0"/>
              <a:t>Manages project dependencies and scripts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D67927-33D8-67BA-7CF7-133D0D9B3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613" y="636820"/>
            <a:ext cx="3115733" cy="38698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42077C-03A1-9A99-6513-A4F169A3E923}"/>
              </a:ext>
            </a:extLst>
          </p:cNvPr>
          <p:cNvSpPr txBox="1"/>
          <p:nvPr/>
        </p:nvSpPr>
        <p:spPr>
          <a:xfrm>
            <a:off x="298028" y="603796"/>
            <a:ext cx="7890932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Install Mongoose: </a:t>
            </a:r>
            <a:r>
              <a:rPr lang="en-US" sz="1700" dirty="0"/>
              <a:t>Use </a:t>
            </a:r>
            <a:r>
              <a:rPr lang="en-US" sz="1700" dirty="0" err="1"/>
              <a:t>npm</a:t>
            </a:r>
            <a:r>
              <a:rPr lang="en-US" sz="1700" dirty="0"/>
              <a:t> install mongoose to add it to your backend.</a:t>
            </a:r>
          </a:p>
          <a:p>
            <a:endParaRPr lang="en-US" sz="1700" dirty="0"/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Set Up MongoDB: </a:t>
            </a:r>
            <a:r>
              <a:rPr lang="en-US" sz="1700" dirty="0"/>
              <a:t>Use MongoDB Atlas (cloud) or a local MongoDB instance.</a:t>
            </a:r>
          </a:p>
          <a:p>
            <a:endParaRPr lang="en-US" sz="1700" dirty="0"/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Connect to MongoDB: </a:t>
            </a:r>
            <a:r>
              <a:rPr lang="en-US" sz="1700" dirty="0"/>
              <a:t>In your backend, use Mongoose to connect with the MongoDB URI.</a:t>
            </a:r>
          </a:p>
          <a:p>
            <a:endParaRPr lang="en-US" sz="1700" dirty="0"/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Define Schema: </a:t>
            </a:r>
            <a:r>
              <a:rPr lang="en-US" sz="1700" dirty="0"/>
              <a:t>Create a Mongoose schema to structure your data (e.g., for users or messages).</a:t>
            </a:r>
          </a:p>
          <a:p>
            <a:endParaRPr lang="en-US" sz="1700" dirty="0"/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Create API Routes: </a:t>
            </a:r>
            <a:r>
              <a:rPr lang="en-US" sz="1700" dirty="0"/>
              <a:t>Define routes to perform CRUD operations using Mongoose methods.</a:t>
            </a:r>
          </a:p>
          <a:p>
            <a:endParaRPr lang="en-US" sz="1700" dirty="0"/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Store Data: </a:t>
            </a:r>
            <a:r>
              <a:rPr lang="en-US" sz="1700" dirty="0"/>
              <a:t>Use Mongoose to save and retrieve data from MongoDB.</a:t>
            </a:r>
          </a:p>
          <a:p>
            <a:endParaRPr lang="en-US" sz="1700" dirty="0"/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Environment Variables: </a:t>
            </a:r>
            <a:r>
              <a:rPr lang="en-US" sz="1700" dirty="0"/>
              <a:t>Store sensitive info (like the MongoDB URI) in .env files.</a:t>
            </a:r>
            <a:endParaRPr lang="en-IN" sz="1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48CCC-3FAE-8159-E9CF-14BA64D25A24}"/>
              </a:ext>
            </a:extLst>
          </p:cNvPr>
          <p:cNvSpPr txBox="1"/>
          <p:nvPr/>
        </p:nvSpPr>
        <p:spPr>
          <a:xfrm>
            <a:off x="142240" y="94827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CONNECTING DATABASE TO BACKEND</a:t>
            </a:r>
          </a:p>
        </p:txBody>
      </p:sp>
    </p:spTree>
    <p:extLst>
      <p:ext uri="{BB962C8B-B14F-4D97-AF65-F5344CB8AC3E}">
        <p14:creationId xmlns:p14="http://schemas.microsoft.com/office/powerpoint/2010/main" val="314108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6BD1E7-7848-75B5-8B5A-0D67E4EC15CF}"/>
              </a:ext>
            </a:extLst>
          </p:cNvPr>
          <p:cNvSpPr txBox="1"/>
          <p:nvPr/>
        </p:nvSpPr>
        <p:spPr>
          <a:xfrm>
            <a:off x="338666" y="108374"/>
            <a:ext cx="3374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u="sng" dirty="0"/>
              <a:t>WORK FLOW DIAGRAMS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0466A9-9ECB-AEAF-5CE6-D1018CFD5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6" y="942975"/>
            <a:ext cx="6096000" cy="1085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06E93D-B439-6E0D-2CEA-192EF807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739" y="2571750"/>
            <a:ext cx="3829853" cy="2359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C3DE0C-9551-D124-AB76-67188B856D32}"/>
              </a:ext>
            </a:extLst>
          </p:cNvPr>
          <p:cNvSpPr txBox="1"/>
          <p:nvPr/>
        </p:nvSpPr>
        <p:spPr>
          <a:xfrm>
            <a:off x="250077" y="3498612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websockets</a:t>
            </a:r>
            <a:r>
              <a:rPr lang="en-IN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17898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ByteByteGo | Technical Interview Prep">
            <a:extLst>
              <a:ext uri="{FF2B5EF4-FFF2-40B4-BE49-F238E27FC236}">
                <a16:creationId xmlns:a16="http://schemas.microsoft.com/office/drawing/2014/main" id="{6FB3813D-3C2C-EB8A-A0FF-56F53F7E3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743" y="625244"/>
            <a:ext cx="4155623" cy="194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D6E1E3-0029-2711-17B7-BD7524111884}"/>
              </a:ext>
            </a:extLst>
          </p:cNvPr>
          <p:cNvSpPr txBox="1"/>
          <p:nvPr/>
        </p:nvSpPr>
        <p:spPr>
          <a:xfrm>
            <a:off x="230293" y="176106"/>
            <a:ext cx="3461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ONLINE/OFFLINE SERVICE FLOW</a:t>
            </a:r>
          </a:p>
        </p:txBody>
      </p:sp>
      <p:pic>
        <p:nvPicPr>
          <p:cNvPr id="9220" name="Picture 4" descr="ByteByteGo | Technical Interview Prep">
            <a:extLst>
              <a:ext uri="{FF2B5EF4-FFF2-40B4-BE49-F238E27FC236}">
                <a16:creationId xmlns:a16="http://schemas.microsoft.com/office/drawing/2014/main" id="{F6875016-9090-5B17-FED0-9A62AAE91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575" y="2777113"/>
            <a:ext cx="3044850" cy="1741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907517-618F-A8DA-65CF-4E6C351AF7AB}"/>
              </a:ext>
            </a:extLst>
          </p:cNvPr>
          <p:cNvSpPr txBox="1"/>
          <p:nvPr/>
        </p:nvSpPr>
        <p:spPr>
          <a:xfrm>
            <a:off x="494788" y="3133937"/>
            <a:ext cx="2275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Chat service b/w sender and receiver</a:t>
            </a:r>
          </a:p>
        </p:txBody>
      </p:sp>
    </p:spTree>
    <p:extLst>
      <p:ext uri="{BB962C8B-B14F-4D97-AF65-F5344CB8AC3E}">
        <p14:creationId xmlns:p14="http://schemas.microsoft.com/office/powerpoint/2010/main" val="2192329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65947" y="-110066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</a:rPr>
              <a:t>FRONT-END DEVELOPMENT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28694" y="452120"/>
            <a:ext cx="627210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B050"/>
                </a:solidFill>
              </a:rPr>
              <a:t>Project Folders:</a:t>
            </a:r>
          </a:p>
          <a:p>
            <a:r>
              <a:rPr lang="en-US" sz="1600" b="1" dirty="0"/>
              <a:t>public: </a:t>
            </a:r>
            <a:r>
              <a:rPr lang="en-US" sz="1600" dirty="0"/>
              <a:t>Holds static files (e.g., index.html, images) that are publicly accessible.</a:t>
            </a:r>
          </a:p>
          <a:p>
            <a:r>
              <a:rPr lang="en-US" sz="1600" b="1" dirty="0" err="1"/>
              <a:t>src</a:t>
            </a:r>
            <a:r>
              <a:rPr lang="en-US" sz="16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components:</a:t>
            </a:r>
            <a:r>
              <a:rPr lang="en-US" sz="1600" dirty="0">
                <a:solidFill>
                  <a:srgbClr val="DE0000"/>
                </a:solidFill>
              </a:rPr>
              <a:t> </a:t>
            </a:r>
            <a:r>
              <a:rPr lang="en-US" sz="1600" dirty="0"/>
              <a:t>Reusable UI elements like buttons, headers,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pages: </a:t>
            </a:r>
            <a:r>
              <a:rPr lang="en-US" sz="1600" dirty="0"/>
              <a:t>Main app pages (e.g., chat, login).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constants: </a:t>
            </a:r>
            <a:r>
              <a:rPr lang="en-US" sz="1600" dirty="0"/>
              <a:t>Stores constant values like API URLs or action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lib: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/>
              <a:t>Utility functions, custom hooks, and helper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store: </a:t>
            </a:r>
            <a:r>
              <a:rPr lang="en-US" sz="1600" dirty="0"/>
              <a:t>Manages app state with tools like Redux or Context API’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00B050"/>
                </a:solidFill>
              </a:rPr>
              <a:t>Key Files: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accent5"/>
                </a:solidFill>
              </a:rPr>
              <a:t>app.jsx</a:t>
            </a:r>
            <a:r>
              <a:rPr lang="en-US" sz="1600" dirty="0">
                <a:solidFill>
                  <a:schemeClr val="accent5"/>
                </a:solidFill>
              </a:rPr>
              <a:t>: </a:t>
            </a:r>
            <a:r>
              <a:rPr lang="en-US" sz="1600" dirty="0"/>
              <a:t>Main entry point, defines layout, routing, and global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accent5"/>
                </a:solidFill>
              </a:rPr>
              <a:t>main.jsx</a:t>
            </a:r>
            <a:r>
              <a:rPr lang="en-US" sz="1600" dirty="0">
                <a:solidFill>
                  <a:schemeClr val="accent5"/>
                </a:solidFill>
              </a:rPr>
              <a:t>: </a:t>
            </a:r>
            <a:r>
              <a:rPr lang="en-US" sz="1600" dirty="0"/>
              <a:t>Boots up the app and connects it to the DOM.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/>
                </a:solidFill>
              </a:rPr>
              <a:t>app.css: </a:t>
            </a:r>
            <a:r>
              <a:rPr lang="en-US" sz="1600" dirty="0"/>
              <a:t>Global or component-specific styles for consistent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accent5"/>
                </a:solidFill>
              </a:rPr>
              <a:t>package.json</a:t>
            </a:r>
            <a:r>
              <a:rPr lang="en-US" sz="1600" dirty="0">
                <a:solidFill>
                  <a:schemeClr val="accent5"/>
                </a:solidFill>
              </a:rPr>
              <a:t>: </a:t>
            </a:r>
            <a:r>
              <a:rPr lang="en-US" sz="1600" dirty="0"/>
              <a:t>Manages dependencies, scripts, and project metadata.</a:t>
            </a:r>
          </a:p>
          <a:p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37F9E8-2DF9-088C-438E-E90D49D03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588" y="228600"/>
            <a:ext cx="2214880" cy="43182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EAF2CE-F8B4-AF39-90A3-E4D3AE3C1F64}"/>
              </a:ext>
            </a:extLst>
          </p:cNvPr>
          <p:cNvSpPr txBox="1"/>
          <p:nvPr/>
        </p:nvSpPr>
        <p:spPr>
          <a:xfrm>
            <a:off x="67733" y="101600"/>
            <a:ext cx="6692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FRONT-END SNAPSHOTS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F2DFF-8A36-2512-92CE-3F6F16394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7" y="501710"/>
            <a:ext cx="2438400" cy="29353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8A42D5-5D81-0986-C939-F37332E6F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642" y="712781"/>
            <a:ext cx="3339253" cy="22702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5011EE-9C5D-E4F8-BEFE-CA761E2C3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987" y="3194110"/>
            <a:ext cx="4903893" cy="171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33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821A8B8-7AC3-2BB6-A558-8577FA730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846" y="697617"/>
            <a:ext cx="5917247" cy="330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92A079-A0D9-2172-873C-002F62821785}"/>
              </a:ext>
            </a:extLst>
          </p:cNvPr>
          <p:cNvSpPr txBox="1"/>
          <p:nvPr/>
        </p:nvSpPr>
        <p:spPr>
          <a:xfrm>
            <a:off x="162560" y="343674"/>
            <a:ext cx="4639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SECURITY AND AUTHENTICATION :-</a:t>
            </a:r>
          </a:p>
          <a:p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2A52-DB1E-A1A4-5975-9DA3B138CC19}"/>
              </a:ext>
            </a:extLst>
          </p:cNvPr>
          <p:cNvSpPr txBox="1"/>
          <p:nvPr/>
        </p:nvSpPr>
        <p:spPr>
          <a:xfrm>
            <a:off x="457200" y="4122717"/>
            <a:ext cx="5917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Using </a:t>
            </a:r>
            <a:r>
              <a:rPr lang="en-IN" dirty="0" err="1"/>
              <a:t>json</a:t>
            </a:r>
            <a:r>
              <a:rPr lang="en-IN" dirty="0"/>
              <a:t> web token for security and authentication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81093" y="384387"/>
            <a:ext cx="6946054" cy="4458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b="1" u="sng" dirty="0"/>
              <a:t>JWT Authentication Flow: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B050"/>
                </a:solidFill>
              </a:rPr>
              <a:t>User Logs In</a:t>
            </a:r>
            <a:r>
              <a:rPr lang="en-US" sz="2000" b="1" dirty="0"/>
              <a:t>: </a:t>
            </a:r>
            <a:r>
              <a:rPr lang="en-US" sz="2000" dirty="0"/>
              <a:t>User sends credentials (username/password) to the server.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</a:rPr>
              <a:t>Server Validates: </a:t>
            </a:r>
            <a:r>
              <a:rPr lang="en-US" sz="2000" dirty="0"/>
              <a:t>Server checks credentials and generates a JWT.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B050"/>
                </a:solidFill>
              </a:rPr>
              <a:t>User Stores JWT: </a:t>
            </a:r>
            <a:r>
              <a:rPr lang="en-US" sz="2000" dirty="0"/>
              <a:t>User stores the JWT (in local Storage or cookies).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B050"/>
                </a:solidFill>
              </a:rPr>
              <a:t>User Makes Authenticated Request: </a:t>
            </a:r>
            <a:r>
              <a:rPr lang="en-US" sz="2000" dirty="0"/>
              <a:t>User sends JWT in the Authorization header (Bearer &lt;token&gt;).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B050"/>
                </a:solidFill>
              </a:rPr>
              <a:t>Server Verifies JWT: </a:t>
            </a:r>
            <a:r>
              <a:rPr lang="en-US" sz="2000" dirty="0"/>
              <a:t>Server checks JWT validity. If valid, processes the request; otherwise, prompts for login again.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BB4DDE-D1C6-E427-DDC7-2E325BD0AF98}"/>
              </a:ext>
            </a:extLst>
          </p:cNvPr>
          <p:cNvSpPr txBox="1"/>
          <p:nvPr/>
        </p:nvSpPr>
        <p:spPr>
          <a:xfrm>
            <a:off x="216745" y="29907"/>
            <a:ext cx="2269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75000"/>
                  </a:schemeClr>
                </a:solidFill>
              </a:rPr>
              <a:t>DEPLOYMENT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6CC8D-8C31-EB19-5548-6DF17724C85E}"/>
              </a:ext>
            </a:extLst>
          </p:cNvPr>
          <p:cNvSpPr txBox="1"/>
          <p:nvPr/>
        </p:nvSpPr>
        <p:spPr>
          <a:xfrm>
            <a:off x="216745" y="419944"/>
            <a:ext cx="78164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Frontend Deployment:</a:t>
            </a:r>
          </a:p>
          <a:p>
            <a:r>
              <a:rPr lang="en-US" b="1" dirty="0"/>
              <a:t>Build React app: </a:t>
            </a:r>
            <a:r>
              <a:rPr lang="en-US" dirty="0"/>
              <a:t>Run </a:t>
            </a:r>
            <a:r>
              <a:rPr lang="en-US" dirty="0" err="1"/>
              <a:t>npm</a:t>
            </a:r>
            <a:r>
              <a:rPr lang="en-US" dirty="0"/>
              <a:t> run build to create production-ready files.</a:t>
            </a:r>
          </a:p>
          <a:p>
            <a:r>
              <a:rPr lang="en-US" b="1" dirty="0"/>
              <a:t>Serve React app: </a:t>
            </a:r>
            <a:r>
              <a:rPr lang="en-US" dirty="0"/>
              <a:t>Use Express in the backend to serve the React build/ folder.</a:t>
            </a:r>
          </a:p>
          <a:p>
            <a:r>
              <a:rPr lang="en-US" b="1" dirty="0"/>
              <a:t>Deploy: </a:t>
            </a:r>
            <a:r>
              <a:rPr lang="en-US" dirty="0"/>
              <a:t>Push to Heroku (or another platform like </a:t>
            </a:r>
            <a:r>
              <a:rPr lang="en-US" dirty="0" err="1"/>
              <a:t>DigitalOcean</a:t>
            </a:r>
            <a:r>
              <a:rPr lang="en-US" dirty="0"/>
              <a:t>) using Git.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Backend Deployment:</a:t>
            </a:r>
          </a:p>
          <a:p>
            <a:r>
              <a:rPr lang="en-US" sz="2000" b="1" dirty="0"/>
              <a:t>Start server: </a:t>
            </a:r>
            <a:r>
              <a:rPr lang="en-US" sz="2000" dirty="0"/>
              <a:t>Run </a:t>
            </a:r>
            <a:r>
              <a:rPr lang="en-US" sz="2000" dirty="0" err="1"/>
              <a:t>npm</a:t>
            </a:r>
            <a:r>
              <a:rPr lang="en-US" sz="2000" dirty="0"/>
              <a:t> run start to start the backend server.</a:t>
            </a:r>
          </a:p>
          <a:p>
            <a:r>
              <a:rPr lang="en-US" sz="2000" b="1" dirty="0"/>
              <a:t>Deploy: </a:t>
            </a:r>
            <a:r>
              <a:rPr lang="en-US" sz="2000" dirty="0"/>
              <a:t>Push the backend to Heroku (or another platform) using Git.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Environment Variables:</a:t>
            </a:r>
          </a:p>
          <a:p>
            <a:r>
              <a:rPr lang="en-US" sz="2000" dirty="0"/>
              <a:t>Set environment variables (e.g., JWT secret, database URL) on the hosting platform.</a:t>
            </a:r>
          </a:p>
          <a:p>
            <a:r>
              <a:rPr lang="en-US" sz="2000" dirty="0"/>
              <a:t>After deploying, your app should be live at the provided URL.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58370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012B50-9FCA-6240-D185-6037A824B06B}"/>
              </a:ext>
            </a:extLst>
          </p:cNvPr>
          <p:cNvSpPr txBox="1"/>
          <p:nvPr/>
        </p:nvSpPr>
        <p:spPr>
          <a:xfrm>
            <a:off x="182880" y="13546"/>
            <a:ext cx="5337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F088B-BE53-0E56-4AC4-D2A107DE49DC}"/>
              </a:ext>
            </a:extLst>
          </p:cNvPr>
          <p:cNvSpPr txBox="1"/>
          <p:nvPr/>
        </p:nvSpPr>
        <p:spPr>
          <a:xfrm>
            <a:off x="182880" y="465072"/>
            <a:ext cx="84734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 team, we successfully developed a real-time chat web app with a focus on key features like real-time messaging, user authentication, and media sharing. Each member contributed to the frontend and backend aspects, ensuring that the app functions smoothly from both a user interface and server perspective. We integrated React for the frontend, Node.js with Socket.IO for real-time communication, and MongoDB for database management.</a:t>
            </a:r>
          </a:p>
          <a:p>
            <a:endParaRPr lang="en-US" dirty="0"/>
          </a:p>
          <a:p>
            <a:r>
              <a:rPr lang="en-US" b="1" dirty="0"/>
              <a:t>Key Accomplishments: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Real-time Messaging: </a:t>
            </a:r>
            <a:r>
              <a:rPr lang="en-US" dirty="0"/>
              <a:t>Our team integrated Socket.IO to provide seamless real-time communication between users.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User Authentication: </a:t>
            </a:r>
            <a:r>
              <a:rPr lang="en-US" dirty="0"/>
              <a:t>We implemented JWT to ensure secure and reliable user login and session management.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Media Sharing: </a:t>
            </a:r>
            <a:r>
              <a:rPr lang="en-US" dirty="0"/>
              <a:t>Through </a:t>
            </a:r>
            <a:r>
              <a:rPr lang="en-US" dirty="0" err="1"/>
              <a:t>Cloudinary</a:t>
            </a:r>
            <a:r>
              <a:rPr lang="en-US" dirty="0"/>
              <a:t>, users can easily upload and share images and videos.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Deployment: </a:t>
            </a:r>
            <a:r>
              <a:rPr lang="en-US" dirty="0"/>
              <a:t>We successfully deployed the app on Heroku or </a:t>
            </a:r>
            <a:r>
              <a:rPr lang="en-US" dirty="0" err="1"/>
              <a:t>DigitalOcean</a:t>
            </a:r>
            <a:r>
              <a:rPr lang="en-US" dirty="0"/>
              <a:t>, making it live and accessible to users.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580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C91379-1149-060D-DC7B-B0A566F8A184}"/>
              </a:ext>
            </a:extLst>
          </p:cNvPr>
          <p:cNvSpPr txBox="1"/>
          <p:nvPr/>
        </p:nvSpPr>
        <p:spPr>
          <a:xfrm>
            <a:off x="602826" y="399626"/>
            <a:ext cx="4128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FUTURE IMPROVEMNTS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4FC828-ADC0-3345-FE13-6DBF5C8D0D0D}"/>
              </a:ext>
            </a:extLst>
          </p:cNvPr>
          <p:cNvSpPr txBox="1"/>
          <p:nvPr/>
        </p:nvSpPr>
        <p:spPr>
          <a:xfrm>
            <a:off x="364080" y="1009226"/>
            <a:ext cx="62466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Future enhancements may include:</a:t>
            </a:r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• Voice and video calling features with multiple users sharing screen </a:t>
            </a:r>
          </a:p>
          <a:p>
            <a:r>
              <a:rPr lang="en-US" sz="2000" dirty="0"/>
              <a:t>• AI-driven content moderation to ensure community standards. </a:t>
            </a:r>
          </a:p>
          <a:p>
            <a:r>
              <a:rPr lang="en-US" sz="2000" dirty="0"/>
              <a:t>• Integration with third-party services for extended functionality. </a:t>
            </a:r>
          </a:p>
          <a:p>
            <a:r>
              <a:rPr lang="en-US" sz="2000" dirty="0"/>
              <a:t>• Add bot detection or spam detection in chat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40478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EDCA52-3F19-1D7C-53AB-3223EB3437C9}"/>
              </a:ext>
            </a:extLst>
          </p:cNvPr>
          <p:cNvSpPr txBox="1"/>
          <p:nvPr/>
        </p:nvSpPr>
        <p:spPr>
          <a:xfrm>
            <a:off x="535093" y="365760"/>
            <a:ext cx="3948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379D0F-FC15-1CF1-EA47-E30C02A11D6F}"/>
              </a:ext>
            </a:extLst>
          </p:cNvPr>
          <p:cNvSpPr txBox="1"/>
          <p:nvPr/>
        </p:nvSpPr>
        <p:spPr>
          <a:xfrm>
            <a:off x="135464" y="1049866"/>
            <a:ext cx="81144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 err="1"/>
              <a:t>React</a:t>
            </a:r>
            <a:r>
              <a:rPr lang="fr-FR" b="1" dirty="0"/>
              <a:t> Documentation: </a:t>
            </a:r>
            <a:r>
              <a:rPr lang="fr-FR" dirty="0">
                <a:solidFill>
                  <a:srgbClr val="00B0F0"/>
                </a:solidFill>
              </a:rPr>
              <a:t>https://reactjs.org/docs/getting-started.html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/>
              <a:t>Socket.IO Documentation: </a:t>
            </a:r>
            <a:r>
              <a:rPr lang="fr-FR" dirty="0">
                <a:solidFill>
                  <a:srgbClr val="00B0F0"/>
                </a:solidFill>
              </a:rPr>
              <a:t>https://socket.io/docs/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/>
              <a:t>JWT </a:t>
            </a:r>
            <a:r>
              <a:rPr lang="fr-FR" b="1" dirty="0" err="1"/>
              <a:t>Authentication</a:t>
            </a:r>
            <a:r>
              <a:rPr lang="fr-FR" b="1" dirty="0"/>
              <a:t>: </a:t>
            </a:r>
            <a:r>
              <a:rPr lang="fr-FR" dirty="0">
                <a:solidFill>
                  <a:srgbClr val="00B0F0"/>
                </a:solidFill>
              </a:rPr>
              <a:t>https://jwt.io/introduction/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/>
              <a:t>MongoDB </a:t>
            </a:r>
            <a:r>
              <a:rPr lang="fr-FR" b="1" dirty="0" err="1"/>
              <a:t>Atlas</a:t>
            </a:r>
            <a:r>
              <a:rPr lang="fr-FR" dirty="0" err="1"/>
              <a:t>:</a:t>
            </a:r>
            <a:r>
              <a:rPr lang="fr-FR" dirty="0" err="1">
                <a:solidFill>
                  <a:srgbClr val="00B0F0"/>
                </a:solidFill>
              </a:rPr>
              <a:t>https</a:t>
            </a:r>
            <a:r>
              <a:rPr lang="fr-FR" dirty="0">
                <a:solidFill>
                  <a:srgbClr val="00B0F0"/>
                </a:solidFill>
              </a:rPr>
              <a:t>://www.mongodb.com/cloud/atlas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 err="1"/>
              <a:t>Cloudinary</a:t>
            </a:r>
            <a:r>
              <a:rPr lang="fr-FR" b="1" dirty="0"/>
              <a:t> </a:t>
            </a:r>
            <a:r>
              <a:rPr lang="fr-FR" b="1" dirty="0" err="1"/>
              <a:t>Documentation:</a:t>
            </a:r>
            <a:r>
              <a:rPr lang="fr-FR" dirty="0" err="1">
                <a:solidFill>
                  <a:srgbClr val="00B0F0"/>
                </a:solidFill>
              </a:rPr>
              <a:t>https</a:t>
            </a:r>
            <a:r>
              <a:rPr lang="fr-FR" dirty="0">
                <a:solidFill>
                  <a:srgbClr val="00B0F0"/>
                </a:solidFill>
              </a:rPr>
              <a:t>://cloudinary.com/documentation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ChatGPT from OpenAI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GitHub repositories and educational videos on MERN stack and </a:t>
            </a:r>
            <a:r>
              <a:rPr lang="en-US" dirty="0" err="1"/>
              <a:t>WebSockets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YouTube Videos on the </a:t>
            </a:r>
            <a:r>
              <a:rPr lang="en-US" dirty="0" err="1"/>
              <a:t>ChatApp</a:t>
            </a:r>
            <a:r>
              <a:rPr lang="en-US" dirty="0"/>
              <a:t> Development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Google Search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394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92E752-E71A-152A-8227-F8920CDADBF9}"/>
              </a:ext>
            </a:extLst>
          </p:cNvPr>
          <p:cNvSpPr txBox="1"/>
          <p:nvPr/>
        </p:nvSpPr>
        <p:spPr>
          <a:xfrm>
            <a:off x="670560" y="1551093"/>
            <a:ext cx="76335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118913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151</TotalTime>
  <Words>1307</Words>
  <Application>Microsoft Office PowerPoint</Application>
  <PresentationFormat>On-screen Show (16:9)</PresentationFormat>
  <Paragraphs>156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Optima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lohith k</cp:lastModifiedBy>
  <cp:revision>3</cp:revision>
  <dcterms:created xsi:type="dcterms:W3CDTF">2024-12-10T15:16:27Z</dcterms:created>
  <dcterms:modified xsi:type="dcterms:W3CDTF">2024-12-19T17:00:43Z</dcterms:modified>
</cp:coreProperties>
</file>